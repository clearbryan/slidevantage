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227"/>
                </a:solidFill>
              </a:rPr>
              <a:t>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Investor
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1A1AA"/>
                </a:solidFill>
              </a:rPr>
              <a:t>Series A Funding 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YourStartup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</a:rPr>
              <a:t>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3200400" cy="146304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1A1AA"/>
                </a:solidFill>
              </a:rPr>
              <a:t>Market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874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0329"/>
                </a:solidFill>
              </a:rPr>
              <a:t>$2.4B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371600"/>
            <a:ext cx="3200400" cy="146304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554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1A1AA"/>
                </a:solidFill>
              </a:rPr>
              <a:t>Target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874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0329"/>
                </a:solidFill>
              </a:rPr>
              <a:t>500K+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3200400"/>
            <a:ext cx="6675120" cy="16459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1A1AA"/>
                </a:solidFill>
              </a:rPr>
              <a:t>Funding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749039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C9A227"/>
                </a:solidFill>
              </a:rPr>
              <a:t>$5,000,000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30329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731520" cy="25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47472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Inefficient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Teams waste 40% of time on manual, repetitive tasks with no clear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474720" cy="36576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47472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High Operational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Existing solutions cost 3x more than necessary without delivering better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474720" cy="365760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47472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373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30329"/>
                </a:solidFill>
              </a:rPr>
              <a:t>Poor User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</a:rPr>
              <a:t>Current tools have steep learning curves, driving low adoption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1A1AA"/>
                </a:solidFill>
              </a:rPr>
              <a:t>How we solve the problem better than anyone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731520" cy="25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5303520" cy="182880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AI-Powered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Our platform automates 80% of repetitive workflows using advanced ML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303520" cy="182880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Cost-Effective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Flat-rate pricing at 60% less than competitors, with no hidden fees.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5303520" cy="182880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Intuitive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Designed for non-technical users — onboarding takes under 10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206240"/>
            <a:ext cx="5303520" cy="182880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43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00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Enterprise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2120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SOC 2 compliant, end-to-end encryption, and role-based access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30329"/>
                </a:solidFill>
              </a:rPr>
              <a:t>Traction &amp;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743200" cy="16459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12,500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D4D8"/>
                </a:solidFill>
              </a:rPr>
              <a:t>Registered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743200" cy="1645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554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0329"/>
                </a:solidFill>
              </a:rPr>
              <a:t>$280K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</a:rPr>
              <a:t>MRR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2743200" cy="16459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94%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D4D8"/>
                </a:solidFill>
              </a:rPr>
              <a:t>Retention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743200" cy="16459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30329"/>
                </a:solidFill>
              </a:rPr>
              <a:t>4.8/5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377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2525B"/>
                </a:solidFill>
              </a:rPr>
              <a:t>App 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30329"/>
                </a:solidFill>
              </a:rPr>
              <a:t>Monthly Recurring Revenue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12080"/>
            <a:ext cx="502920" cy="27432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Jul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8448" y="5084064"/>
            <a:ext cx="502920" cy="402336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Aug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48255" y="4937760"/>
            <a:ext cx="502920" cy="54864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48255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Sep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8064" y="4791456"/>
            <a:ext cx="502920" cy="694944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8064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Oct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872" y="4608576"/>
            <a:ext cx="502920" cy="877824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47872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Nov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4425696"/>
            <a:ext cx="502920" cy="1060704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Dec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7488" y="4206240"/>
            <a:ext cx="502920" cy="1280160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Jan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97295" y="3986784"/>
            <a:ext cx="502920" cy="1499616"/>
          </a:xfrm>
          <a:prstGeom prst="rect">
            <a:avLst/>
          </a:prstGeom>
          <a:solidFill>
            <a:srgbClr val="030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7295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Feb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47103" y="3657600"/>
            <a:ext cx="502920" cy="1828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3" y="55321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1A1AA"/>
                </a:solidFill>
              </a:rPr>
              <a:t>Mar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828800"/>
            <a:ext cx="7589520" cy="128016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92024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227"/>
                </a:solidFill>
              </a:rPr>
              <a:t>Raising $5,000,000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5303520" cy="10058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Product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</a:rPr>
              <a:t>40% · $2M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474720"/>
            <a:ext cx="5303520" cy="10058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566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Sales &amp;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</a:rPr>
              <a:t>30% · $1.5M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79"/>
            <a:ext cx="5303520" cy="10058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463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7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</a:rPr>
              <a:t>20% · $1M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754879"/>
            <a:ext cx="5303520" cy="1005840"/>
          </a:xfrm>
          <a:prstGeom prst="rect">
            <a:avLst/>
          </a:prstGeom>
          <a:solidFill>
            <a:srgbClr val="070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84631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2577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</a:rPr>
              <a:t>10% · $0.5M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1A1AA"/>
                </a:solidFill>
              </a:rPr>
              <a:t>contact@yourstartup.com  ·  www.yourstartup.com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